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yaapar 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51560"/>
            <a:ext cx="2606040" cy="1737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023360" y="3063240"/>
            <a:ext cx="4114800" cy="25400"/>
          </a:xfrm>
          <a:prstGeom prst="rect">
            <a:avLst/>
          </a:prstGeom>
          <a:solidFill>
            <a:srgbClr val="E6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5400" b="1">
                <a:solidFill>
                  <a:srgbClr val="12211E"/>
                </a:solidFill>
                <a:latin typeface="Manrope"/>
              </a:rPr>
              <a:t>Impact &amp; Future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434840"/>
            <a:ext cx="85313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516561"/>
                </a:solidFill>
                <a:latin typeface="Manrope"/>
              </a:rPr>
              <a:t>One AI employee that runs the entire back office of Bharat's businesses.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18888" y="5074920"/>
            <a:ext cx="2560320" cy="384048"/>
          </a:xfrm>
          <a:prstGeom prst="round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DM Mono"/>
              </a:rPr>
              <a:t>BUSINESS BRAIN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04487" y="5623560"/>
            <a:ext cx="2194560" cy="384048"/>
          </a:xfrm>
          <a:prstGeom prst="roundRect">
            <a:avLst/>
          </a:prstGeom>
          <a:solidFill>
            <a:srgbClr val="165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DM Mono"/>
              </a:rPr>
              <a:t>BHARAT-FIRST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5623560"/>
            <a:ext cx="2011680" cy="384048"/>
          </a:xfrm>
          <a:prstGeom prst="roundRect">
            <a:avLst/>
          </a:prstGeom>
          <a:solidFill>
            <a:srgbClr val="165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DM Mono"/>
              </a:rPr>
              <a:t>63M MSMEs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6263640"/>
            <a:ext cx="39593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819894"/>
                </a:solidFill>
                <a:latin typeface="DM Mono"/>
              </a:rPr>
              <a:t>MSME Prototype · Next.js 16 · React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65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148840"/>
            <a:ext cx="1281363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3840480"/>
            <a:ext cx="944575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9FD3C9"/>
                </a:solidFill>
                <a:latin typeface="DM Mono"/>
              </a:rPr>
              <a:t>SECTION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601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6600" b="1">
                <a:solidFill>
                  <a:srgbClr val="FFFFFF"/>
                </a:solidFill>
                <a:latin typeface="Manrope"/>
              </a:rPr>
              <a:t>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5577840"/>
            <a:ext cx="6702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CDE6E0"/>
                </a:solidFill>
                <a:latin typeface="Manrope"/>
              </a:rPr>
              <a:t>What the Business Brain changes for India's small businesses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005840" cy="45720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1E6C5C"/>
                </a:solidFill>
                <a:latin typeface="DM Mono"/>
              </a:rPr>
              <a:t>THE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2211E"/>
                </a:solidFill>
                <a:latin typeface="Manrope"/>
              </a:rPr>
              <a:t>The Problem We Solve</a:t>
            </a:r>
          </a:p>
        </p:txBody>
      </p:sp>
      <p:pic>
        <p:nvPicPr>
          <p:cNvPr id="8" name="Picture 7" descr="logo 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502920"/>
            <a:ext cx="726105" cy="777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15600" y="13716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819894"/>
                </a:solidFill>
                <a:latin typeface="DM Mono"/>
              </a:rPr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48840"/>
            <a:ext cx="82296" cy="292608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112264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65246"/>
                </a:solidFill>
                <a:latin typeface="Manrope"/>
              </a:rPr>
              <a:t>Fragmented reality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532888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63 million MSMEs in India run on WhatsApp, UPI, paper bills, notebooks &amp; spreadsheets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Orders, payments, inventory and invoices live in separate places — no single view of the business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148840"/>
            <a:ext cx="82296" cy="292608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2112264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65246"/>
                </a:solidFill>
                <a:latin typeface="Manrope"/>
              </a:rPr>
              <a:t>Why ERPs failed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532888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Built for corporates, priced for enterprises, require training — ignored by small owners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The accounting gap leaves ₹70L+ crore of MSME commerce informal &amp; invisible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46520"/>
            <a:ext cx="11183112" cy="15240"/>
          </a:xfrm>
          <a:prstGeom prst="rect">
            <a:avLst/>
          </a:prstGeom>
          <a:solidFill>
            <a:srgbClr val="E6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819894"/>
                </a:solidFill>
                <a:latin typeface="DM Mono"/>
              </a:rPr>
              <a:t>VyapaarOS — AI Business Brain for Bharat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1E6C5C"/>
                </a:solidFill>
                <a:latin typeface="DM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005840" cy="45720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1E6C5C"/>
                </a:solidFill>
                <a:latin typeface="DM Mono"/>
              </a:rPr>
              <a:t>THE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2211E"/>
                </a:solidFill>
                <a:latin typeface="Manrope"/>
              </a:rPr>
              <a:t>What We Built</a:t>
            </a:r>
          </a:p>
        </p:txBody>
      </p:sp>
      <p:pic>
        <p:nvPicPr>
          <p:cNvPr id="8" name="Picture 7" descr="logo 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502920"/>
            <a:ext cx="726105" cy="777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15600" y="13716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819894"/>
                </a:solidFill>
                <a:latin typeface="DM Mono"/>
              </a:rPr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48840"/>
            <a:ext cx="82296" cy="292608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112264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65246"/>
                </a:solidFill>
                <a:latin typeface="Manrope"/>
              </a:rPr>
              <a:t>Business Brain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532888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Ask in plain language (Kannada + English): cash flow, GST, profit, receivables — answered instantly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One connected view of orders, inventory, payments, invoices, suppliers and GST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148840"/>
            <a:ext cx="82296" cy="292608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2112264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65246"/>
                </a:solidFill>
                <a:latin typeface="Manrope"/>
              </a:rPr>
              <a:t>Working AI employees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532888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AI Auditor — caught a ₹28,500 duplicate supplier payment; flags missing GST &amp; unusual refunds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Autopilot — AI CFO, Procurement Manager and Auditor run in the background, explain every call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46520"/>
            <a:ext cx="11183112" cy="15240"/>
          </a:xfrm>
          <a:prstGeom prst="rect">
            <a:avLst/>
          </a:prstGeom>
          <a:solidFill>
            <a:srgbClr val="E6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819894"/>
                </a:solidFill>
                <a:latin typeface="DM Mono"/>
              </a:rPr>
              <a:t>VyapaarOS — AI Business Brain for Bharat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1E6C5C"/>
                </a:solidFill>
                <a:latin typeface="DM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005840" cy="45720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1E6C5C"/>
                </a:solidFill>
                <a:latin typeface="DM Mono"/>
              </a:rPr>
              <a:t>OWNER'S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2211E"/>
                </a:solidFill>
                <a:latin typeface="Manrope"/>
              </a:rPr>
              <a:t>Impact on the Owner's Time</a:t>
            </a:r>
          </a:p>
        </p:txBody>
      </p:sp>
      <p:pic>
        <p:nvPicPr>
          <p:cNvPr id="8" name="Picture 7" descr="logo 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502920"/>
            <a:ext cx="726105" cy="777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15600" y="13716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819894"/>
                </a:solidFill>
                <a:latin typeface="DM Mono"/>
              </a:rPr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48840"/>
            <a:ext cx="82296" cy="292608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112264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65246"/>
                </a:solidFill>
                <a:latin typeface="Manrope"/>
              </a:rPr>
              <a:t>Before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532888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3+ hours every day on manual bookkeeping and reconciliation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156 UPI payments reconciled by hand; paper bills filed away; follow-ups forgotten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148840"/>
            <a:ext cx="82296" cy="292608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2112264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65246"/>
                </a:solidFill>
                <a:latin typeface="Manrope"/>
              </a:rPr>
              <a:t>After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532888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Business answers in seconds — "what's my cash position?"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Payments auto-reconciled (2.1 hrs avg settlement), bills processed, reminders sent automatically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46520"/>
            <a:ext cx="11183112" cy="15240"/>
          </a:xfrm>
          <a:prstGeom prst="rect">
            <a:avLst/>
          </a:prstGeom>
          <a:solidFill>
            <a:srgbClr val="E6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819894"/>
                </a:solidFill>
                <a:latin typeface="DM Mono"/>
              </a:rPr>
              <a:t>VyapaarOS — AI Business Brain for Bharat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1E6C5C"/>
                </a:solidFill>
                <a:latin typeface="DM Mon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005840" cy="45720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1E6C5C"/>
                </a:solidFill>
                <a:latin typeface="DM Mono"/>
              </a:rPr>
              <a:t>OWNER'S MONEY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2211E"/>
                </a:solidFill>
                <a:latin typeface="Manrope"/>
              </a:rPr>
              <a:t>Impact on Money: Recovered &amp; Protected</a:t>
            </a:r>
          </a:p>
        </p:txBody>
      </p:sp>
      <p:pic>
        <p:nvPicPr>
          <p:cNvPr id="8" name="Picture 7" descr="logo 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502920"/>
            <a:ext cx="726105" cy="777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15600" y="13716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819894"/>
                </a:solidFill>
                <a:latin typeface="DM Mono"/>
              </a:rPr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48840"/>
            <a:ext cx="82296" cy="292608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112264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65246"/>
                </a:solidFill>
                <a:latin typeface="Manrope"/>
              </a:rPr>
              <a:t>Cash recovered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532888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₹28,500 duplicate payout to a supplier detected and reclaimed in one audit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₹84,200 in overdue receivables (3 customers, 15+ days) surfaced for structured follow-up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148840"/>
            <a:ext cx="82296" cy="292608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2112264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65246"/>
                </a:solidFill>
                <a:latin typeface="Manrope"/>
              </a:rPr>
              <a:t>Margins protected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532888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3.2% rice margin erosion caught early → pricing recommendation (₹66/kg) with 6% elasticity model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GST liability (₹39,294) estimated proactively — no surprise tax bills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Digital Twin simulates purchases &amp; hires before committing money (2.3x ROI call)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46520"/>
            <a:ext cx="11183112" cy="15240"/>
          </a:xfrm>
          <a:prstGeom prst="rect">
            <a:avLst/>
          </a:prstGeom>
          <a:solidFill>
            <a:srgbClr val="E6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819894"/>
                </a:solidFill>
                <a:latin typeface="DM Mono"/>
              </a:rPr>
              <a:t>VyapaarOS — AI Business Brain for Bharat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1E6C5C"/>
                </a:solidFill>
                <a:latin typeface="DM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005840" cy="45720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1E6C5C"/>
                </a:solidFill>
                <a:latin typeface="DM Mono"/>
              </a:rPr>
              <a:t>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2211E"/>
                </a:solidFill>
                <a:latin typeface="Manrope"/>
              </a:rPr>
              <a:t>From Human-Led to AI-Assisted Decisions</a:t>
            </a:r>
          </a:p>
        </p:txBody>
      </p:sp>
      <p:pic>
        <p:nvPicPr>
          <p:cNvPr id="8" name="Picture 7" descr="logo 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502920"/>
            <a:ext cx="726105" cy="777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15600" y="13716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819894"/>
                </a:solidFill>
                <a:latin typeface="DM Mono"/>
              </a:rPr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48840"/>
            <a:ext cx="82296" cy="292608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112264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65246"/>
                </a:solidFill>
                <a:latin typeface="Manrope"/>
              </a:rPr>
              <a:t>Explainable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532888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Every recommendation shows the 'why' — owners trust and act on it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Restock alerts fire before stockout, not after (safety limits on every SKU)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148840"/>
            <a:ext cx="82296" cy="292608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2112264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65246"/>
                </a:solidFill>
                <a:latin typeface="Manrope"/>
              </a:rPr>
              <a:t>Proactive, not reactive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532888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Digital Twin: "Buy 500 kg of rice?" → 45-day stock coverage analysis first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Owner becomes a reviewer who approves, instead of a clerk who records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46520"/>
            <a:ext cx="11183112" cy="15240"/>
          </a:xfrm>
          <a:prstGeom prst="rect">
            <a:avLst/>
          </a:prstGeom>
          <a:solidFill>
            <a:srgbClr val="E6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819894"/>
                </a:solidFill>
                <a:latin typeface="DM Mono"/>
              </a:rPr>
              <a:t>VyapaarOS — AI Business Brain for Bharat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1E6C5C"/>
                </a:solidFill>
                <a:latin typeface="DM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005840" cy="45720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1E6C5C"/>
                </a:solidFill>
                <a:latin typeface="DM Mono"/>
              </a:rPr>
              <a:t>BHARAT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2211E"/>
                </a:solidFill>
                <a:latin typeface="Manrope"/>
              </a:rPr>
              <a:t>Broader Societal Impact</a:t>
            </a:r>
          </a:p>
        </p:txBody>
      </p:sp>
      <p:pic>
        <p:nvPicPr>
          <p:cNvPr id="8" name="Picture 7" descr="logo 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502920"/>
            <a:ext cx="726105" cy="777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15600" y="13716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819894"/>
                </a:solidFill>
                <a:latin typeface="DM Mono"/>
              </a:rPr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48840"/>
            <a:ext cx="82296" cy="292608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112264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65246"/>
                </a:solidFill>
                <a:latin typeface="Manrope"/>
              </a:rPr>
              <a:t>Inclusive by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532888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Bharat-first prompts: Kannada + English; 10+ Indian languages planned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Sector-agnostic — rice, ghee, saffron, sarees, handicrafts, ayurveda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148840"/>
            <a:ext cx="82296" cy="292608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2112264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65246"/>
                </a:solidFill>
                <a:latin typeface="Manrope"/>
              </a:rPr>
              <a:t>Formalizing the informal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532888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Clean records → GST compliance, better credit access, working-capital loans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Empowers mom-and-pop shops to compete with modern retail and chains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Not another dashboard to maintain — an AI employee you can talk 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46520"/>
            <a:ext cx="11183112" cy="15240"/>
          </a:xfrm>
          <a:prstGeom prst="rect">
            <a:avLst/>
          </a:prstGeom>
          <a:solidFill>
            <a:srgbClr val="E6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819894"/>
                </a:solidFill>
                <a:latin typeface="DM Mono"/>
              </a:rPr>
              <a:t>VyapaarOS — AI Business Brain for Bharat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1E6C5C"/>
                </a:solidFill>
                <a:latin typeface="DM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005840" cy="45720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1E6C5C"/>
                </a:solidFill>
                <a:latin typeface="DM Mono"/>
              </a:rPr>
              <a:t>MEASURABLE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2211E"/>
                </a:solidFill>
                <a:latin typeface="Manrope"/>
              </a:rPr>
              <a:t>Impact KPIs</a:t>
            </a:r>
          </a:p>
        </p:txBody>
      </p:sp>
      <p:pic>
        <p:nvPicPr>
          <p:cNvPr id="8" name="Picture 7" descr="logo 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502920"/>
            <a:ext cx="726105" cy="777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15600" y="13716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819894"/>
                </a:solidFill>
                <a:latin typeface="DM Mono"/>
              </a:rPr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48840"/>
            <a:ext cx="82296" cy="292608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112264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65246"/>
                </a:solidFill>
                <a:latin typeface="Manrope"/>
              </a:rPr>
              <a:t>Efficiency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532888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90%+ reduction in manual bookkeeping effort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Reconciliation down from days to ~2 hours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148840"/>
            <a:ext cx="82296" cy="292608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2112264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65246"/>
                </a:solidFill>
                <a:latin typeface="Manrope"/>
              </a:rPr>
              <a:t>Money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532888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8–12% margin protection via pricing intelligence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₹28,500 recovered in a single audit pass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New branch launch: minutes via DNA cloning (was weeks)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46520"/>
            <a:ext cx="11183112" cy="15240"/>
          </a:xfrm>
          <a:prstGeom prst="rect">
            <a:avLst/>
          </a:prstGeom>
          <a:solidFill>
            <a:srgbClr val="E6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819894"/>
                </a:solidFill>
                <a:latin typeface="DM Mono"/>
              </a:rPr>
              <a:t>VyapaarOS — AI Business Brain for Bharat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1E6C5C"/>
                </a:solidFill>
                <a:latin typeface="DM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5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148840"/>
            <a:ext cx="1281363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3840480"/>
            <a:ext cx="944575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9FD3C9"/>
                </a:solidFill>
                <a:latin typeface="DM Mono"/>
              </a:rPr>
              <a:t>SECTION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601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Manrope"/>
              </a:rPr>
              <a:t>FUTURE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5577840"/>
            <a:ext cx="6702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CDE6E0"/>
                </a:solidFill>
                <a:latin typeface="Manrope"/>
              </a:rPr>
              <a:t>From prototype to the AI employee every Bharat business deserves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005840" cy="45720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1E6C5C"/>
                </a:solidFill>
                <a:latin typeface="DM Mono"/>
              </a:rPr>
              <a:t>FROM →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2211E"/>
                </a:solidFill>
                <a:latin typeface="Manrope"/>
              </a:rPr>
              <a:t>Prototype to Production</a:t>
            </a:r>
          </a:p>
        </p:txBody>
      </p:sp>
      <p:pic>
        <p:nvPicPr>
          <p:cNvPr id="8" name="Picture 7" descr="logo 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502920"/>
            <a:ext cx="726105" cy="777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15600" y="13716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819894"/>
                </a:solidFill>
                <a:latin typeface="DM Mono"/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48840"/>
            <a:ext cx="82296" cy="292608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112264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65246"/>
                </a:solidFill>
                <a:latin typeface="Manrope"/>
              </a:rPr>
              <a:t>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532888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In-memory data &amp; mock API — demo branch only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Rule-based chat (Kannada + English prompts)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Single branch, single owner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148840"/>
            <a:ext cx="82296" cy="292608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2112264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65246"/>
                </a:solidFill>
                <a:latin typeface="Manrope"/>
              </a:rPr>
              <a:t>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532888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Persistent, multi-tenant, authenticated cloud platform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Real LLM natural-language brain + voice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Millions of branches, franchise-ready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46520"/>
            <a:ext cx="11183112" cy="15240"/>
          </a:xfrm>
          <a:prstGeom prst="rect">
            <a:avLst/>
          </a:prstGeom>
          <a:solidFill>
            <a:srgbClr val="E6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819894"/>
                </a:solidFill>
                <a:latin typeface="DM Mono"/>
              </a:rPr>
              <a:t>VyapaarOS — AI Business Brain for Bharat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1E6C5C"/>
                </a:solidFill>
                <a:latin typeface="DM Mon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005840" cy="45720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1E6C5C"/>
                </a:solidFill>
                <a:latin typeface="DM Mono"/>
              </a:rPr>
              <a:t>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2211E"/>
                </a:solidFill>
                <a:latin typeface="Manrope"/>
              </a:rPr>
              <a:t>Real Integrations (The Data Layer)</a:t>
            </a:r>
          </a:p>
        </p:txBody>
      </p:sp>
      <p:pic>
        <p:nvPicPr>
          <p:cNvPr id="8" name="Picture 7" descr="logo 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502920"/>
            <a:ext cx="726105" cy="777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15600" y="13716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819894"/>
                </a:solidFill>
                <a:latin typeface="DM Mono"/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48840"/>
            <a:ext cx="82296" cy="292608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112264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65246"/>
                </a:solidFill>
                <a:latin typeface="Manrope"/>
              </a:rPr>
              <a:t>Financial rails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532888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Banking — auto-import statements via Account Aggregators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UPI — instant settlement reconciliation (PhonePe, GPay, Razorpay)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GST — live GSTN filing &amp; auto-prepared returns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148840"/>
            <a:ext cx="82296" cy="292608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2112264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65246"/>
                </a:solidFill>
                <a:latin typeface="Manrope"/>
              </a:rPr>
              <a:t>Communication &amp; documents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532888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WhatsApp Business API — orders, invoices &amp; reminders in chat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OCR — read paper bills, invoices and screenshots automatically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Accounting sync — Tally / Zoho / QuickBooks or replace them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46520"/>
            <a:ext cx="11183112" cy="15240"/>
          </a:xfrm>
          <a:prstGeom prst="rect">
            <a:avLst/>
          </a:prstGeom>
          <a:solidFill>
            <a:srgbClr val="E6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819894"/>
                </a:solidFill>
                <a:latin typeface="DM Mono"/>
              </a:rPr>
              <a:t>VyapaarOS — AI Business Brain for Bharat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1E6C5C"/>
                </a:solidFill>
                <a:latin typeface="DM Mon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005840" cy="45720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1E6C5C"/>
                </a:solidFill>
                <a:latin typeface="DM Mono"/>
              </a:rPr>
              <a:t>AI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2211E"/>
                </a:solidFill>
                <a:latin typeface="Manrope"/>
              </a:rPr>
              <a:t>AI Capability Roadmap</a:t>
            </a:r>
          </a:p>
        </p:txBody>
      </p:sp>
      <p:pic>
        <p:nvPicPr>
          <p:cNvPr id="8" name="Picture 7" descr="logo 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502920"/>
            <a:ext cx="726105" cy="777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15600" y="13716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819894"/>
                </a:solidFill>
                <a:latin typeface="DM Mono"/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48840"/>
            <a:ext cx="82296" cy="292608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112264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65246"/>
                </a:solidFill>
                <a:latin typeface="Manrope"/>
              </a:rPr>
              <a:t>Smarter brain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532888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LLM-powered natural language (replaces rule-based mock)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Predictive analytics — demand, cash flow, stockouts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Anomaly detection at scale — fraud, theft, leakage signals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148840"/>
            <a:ext cx="82296" cy="292608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2112264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65246"/>
                </a:solidFill>
                <a:latin typeface="Manrope"/>
              </a:rPr>
              <a:t>Human-native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532888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Voice interface in Hindi, Kannada, Tamil, Telugu, Marathi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Camera → purchase order → ledger (image intelligence)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A personalized AI agent that learns your business over months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46520"/>
            <a:ext cx="11183112" cy="15240"/>
          </a:xfrm>
          <a:prstGeom prst="rect">
            <a:avLst/>
          </a:prstGeom>
          <a:solidFill>
            <a:srgbClr val="E6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819894"/>
                </a:solidFill>
                <a:latin typeface="DM Mono"/>
              </a:rPr>
              <a:t>VyapaarOS — AI Business Brain for Bharat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1E6C5C"/>
                </a:solidFill>
                <a:latin typeface="DM Mon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005840" cy="45720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1E6C5C"/>
                </a:solidFill>
                <a:latin typeface="DM Mono"/>
              </a:rPr>
              <a:t>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2211E"/>
                </a:solidFill>
                <a:latin typeface="Manrope"/>
              </a:rPr>
              <a:t>Product Expansion</a:t>
            </a:r>
          </a:p>
        </p:txBody>
      </p:sp>
      <p:pic>
        <p:nvPicPr>
          <p:cNvPr id="8" name="Picture 7" descr="logo 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502920"/>
            <a:ext cx="726105" cy="777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15600" y="13716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819894"/>
                </a:solidFill>
                <a:latin typeface="DM Mono"/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48840"/>
            <a:ext cx="82296" cy="292608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112264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65246"/>
                </a:solidFill>
                <a:latin typeface="Manrope"/>
              </a:rPr>
              <a:t>Commerce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532888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Supplier price comparison marketplace + group buying power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Credit scoring — turn business data into loan eligibility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Mobile-first app with offline mode for rural connectivity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148840"/>
            <a:ext cx="82296" cy="292608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2112264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65246"/>
                </a:solidFill>
                <a:latin typeface="Manrope"/>
              </a:rPr>
              <a:t>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532888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Multi-branch empire mode via Business DNA cloning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Thermal billing, QR invoicing, POS hardware support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Compliance hub — filings, licenses, expiry reminders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46520"/>
            <a:ext cx="11183112" cy="15240"/>
          </a:xfrm>
          <a:prstGeom prst="rect">
            <a:avLst/>
          </a:prstGeom>
          <a:solidFill>
            <a:srgbClr val="E6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819894"/>
                </a:solidFill>
                <a:latin typeface="DM Mono"/>
              </a:rPr>
              <a:t>VyapaarOS — AI Business Brain for Bharat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1E6C5C"/>
                </a:solidFill>
                <a:latin typeface="DM Mon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005840" cy="45720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1E6C5C"/>
                </a:solidFill>
                <a:latin typeface="DM Mono"/>
              </a:rPr>
              <a:t>GO TO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2211E"/>
                </a:solidFill>
                <a:latin typeface="Manrope"/>
              </a:rPr>
              <a:t>Commercialization &amp; Scale</a:t>
            </a:r>
          </a:p>
        </p:txBody>
      </p:sp>
      <p:pic>
        <p:nvPicPr>
          <p:cNvPr id="8" name="Picture 7" descr="logo 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502920"/>
            <a:ext cx="726105" cy="777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15600" y="13716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819894"/>
                </a:solidFill>
                <a:latin typeface="DM Mono"/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48840"/>
            <a:ext cx="82296" cy="292608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112264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65246"/>
                </a:solidFill>
                <a:latin typeface="Manrope"/>
              </a:rPr>
              <a:t>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532888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Freemium → ₹999–₹1,999 / month per branch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WhatsApp-first onboarding — zero training needed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Revenue: subscriptions + transaction fees + credit marketplace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148840"/>
            <a:ext cx="82296" cy="292608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2112264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65246"/>
                </a:solidFill>
                <a:latin typeface="Manrope"/>
              </a:rPr>
              <a:t>Reach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532888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Target: 63M MSMEs → 10M+ active users in 5 years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Partnerships: banks, NBFCs, GST networks, FMCG distributors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Pilot: first 100 shops on live integrations in 12 months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46520"/>
            <a:ext cx="11183112" cy="15240"/>
          </a:xfrm>
          <a:prstGeom prst="rect">
            <a:avLst/>
          </a:prstGeom>
          <a:solidFill>
            <a:srgbClr val="E6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819894"/>
                </a:solidFill>
                <a:latin typeface="DM Mono"/>
              </a:rPr>
              <a:t>VyapaarOS — AI Business Brain for Bharat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1E6C5C"/>
                </a:solidFill>
                <a:latin typeface="DM Mon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005840" cy="45720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1E6C5C"/>
                </a:solidFill>
                <a:latin typeface="DM Mono"/>
              </a:rPr>
              <a:t>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2211E"/>
                </a:solidFill>
                <a:latin typeface="Manrope"/>
              </a:rPr>
              <a:t>Future Scope at a Glance</a:t>
            </a:r>
          </a:p>
        </p:txBody>
      </p:sp>
      <p:pic>
        <p:nvPicPr>
          <p:cNvPr id="8" name="Picture 7" descr="logo 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502920"/>
            <a:ext cx="726105" cy="777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15600" y="13716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819894"/>
                </a:solidFill>
                <a:latin typeface="DM Mono"/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48840"/>
            <a:ext cx="82296" cy="292608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112264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65246"/>
                </a:solidFill>
                <a:latin typeface="Manrope"/>
              </a:rPr>
              <a:t>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532888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Mock AI (rule-based)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In-memory data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Single demo branch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English / Kannada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148840"/>
            <a:ext cx="82296" cy="292608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2112264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65246"/>
                </a:solidFill>
                <a:latin typeface="Manrope"/>
              </a:rPr>
              <a:t>Tomorrow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532888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Real LLM + voice AI in 10+ languages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Cloud + real bank / UPI / GST / WhatsApp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Millions of branches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516561"/>
                </a:solidFill>
                <a:latin typeface="Manrope"/>
              </a:rPr>
              <a:t>▸ Autopilot — AI runs it, owner approves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46520"/>
            <a:ext cx="11183112" cy="15240"/>
          </a:xfrm>
          <a:prstGeom prst="rect">
            <a:avLst/>
          </a:prstGeom>
          <a:solidFill>
            <a:srgbClr val="E6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819894"/>
                </a:solidFill>
                <a:latin typeface="DM Mono"/>
              </a:rPr>
              <a:t>VyapaarOS — AI Business Brain for Bharat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1E6C5C"/>
                </a:solidFill>
                <a:latin typeface="DM Mono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5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yaapar 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914400"/>
            <a:ext cx="2194560" cy="1463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023360" y="2697480"/>
            <a:ext cx="4114800" cy="25400"/>
          </a:xfrm>
          <a:prstGeom prst="rect">
            <a:avLst/>
          </a:prstGeom>
          <a:solidFill>
            <a:srgbClr val="9FD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971800"/>
            <a:ext cx="9445752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Manrope"/>
              </a:rPr>
              <a:t>VyapaarOS is not an ERP.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Manrope"/>
              </a:rPr>
              <a:t>It is the AI employee every Bharat business deserves.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4572000"/>
            <a:ext cx="5788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9FD3C9"/>
                </a:solidFill>
                <a:latin typeface="DM Mono"/>
              </a:rPr>
              <a:t>Next 12 months: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5074920"/>
            <a:ext cx="292608" cy="292608"/>
          </a:xfrm>
          <a:prstGeom prst="rect">
            <a:avLst/>
          </a:prstGeom>
          <a:solidFill>
            <a:srgbClr val="165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b="1" sz="1400">
                <a:solidFill>
                  <a:srgbClr val="FFFFFF"/>
                </a:solidFill>
                <a:latin typeface="DM Mon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509320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anrope"/>
              </a:rPr>
              <a:t>Production data layer — persistence + auth + multi-branch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5486400"/>
            <a:ext cx="292608" cy="292608"/>
          </a:xfrm>
          <a:prstGeom prst="rect">
            <a:avLst/>
          </a:prstGeom>
          <a:solidFill>
            <a:srgbClr val="165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b="1" sz="1400">
                <a:solidFill>
                  <a:srgbClr val="FFFFFF"/>
                </a:solidFill>
                <a:latin typeface="DM Mono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550468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anrope"/>
              </a:rPr>
              <a:t>WhatsApp &amp; bank integrations — first 100 pilot shops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5897880"/>
            <a:ext cx="292608" cy="292608"/>
          </a:xfrm>
          <a:prstGeom prst="rect">
            <a:avLst/>
          </a:prstGeom>
          <a:solidFill>
            <a:srgbClr val="165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b="1" sz="1400">
                <a:solidFill>
                  <a:srgbClr val="FFFFFF"/>
                </a:solidFill>
                <a:latin typeface="DM Mono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591616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anrope"/>
              </a:rPr>
              <a:t>Real LLM natural-language Business Brain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6309360"/>
            <a:ext cx="292608" cy="292608"/>
          </a:xfrm>
          <a:prstGeom prst="rect">
            <a:avLst/>
          </a:prstGeom>
          <a:solidFill>
            <a:srgbClr val="1652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b="1" sz="1400">
                <a:solidFill>
                  <a:srgbClr val="FFFFFF"/>
                </a:solidFill>
                <a:latin typeface="DM Mono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632764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Manrope"/>
              </a:rPr>
              <a:t>Mobile app with offline 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6446520"/>
            <a:ext cx="94457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CDE6E0"/>
                </a:solidFill>
                <a:latin typeface="DM Mono"/>
              </a:rPr>
              <a:t>Made for Bharat · 63,000,000 businesses · Built with React 19 &amp; Next.js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